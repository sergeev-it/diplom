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howSpecialPlsOnTitleSld="0" strictFirstAndLastChars="0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8" d="100"/>
          <a:sy n="108" d="100"/>
        </p:scale>
        <p:origin x="678" y="78"/>
      </p:cViewPr>
      <p:guideLst>
        <p:guide pos="347"/>
        <p:guide pos="1344" orient="horz"/>
        <p:guide pos="981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8784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42127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113031" name="Google Shape;109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89321884" name="Google Shape;110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675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5369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69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C624C0-4EEB-1257-07A4-AF2C7E36C0F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427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0827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28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E89517-8C66-A5DC-7E44-B5867096D25A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49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655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85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A2F704-21BA-4974-02B6-E07AA6AA8530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718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842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795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B0F079-048D-BB5D-6165-8A5F62A5A63C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791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255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8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941D53-53FA-B8D3-CA21-E328D9E167F8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103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934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130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DFD828-A3D9-CE39-A2EB-671424D1A029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141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245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1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3FA1EA-8E20-E965-4EA1-AAA4B28973E4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409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402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250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944BF4-BFAC-DD8C-9619-AED599544141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915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268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702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0A25F-70C2-1412-279B-096ACA7B34BB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426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2432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036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414E58-C718-9310-2DBC-C1C4A1F0A200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899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7407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41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921FE8-D35C-08F8-D27F-DB5AE122D914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046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9030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112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B8A000-0381-EA48-F8AC-71602D018232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878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9630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811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FE05B7-C915-2C47-4DFF-7279009102D9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198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732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8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1A679-6267-0262-966C-0764E7D95EA5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148186" name="Google Shape;136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26314718" name="Google Shape;137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итульный слайд" preserve="0" showMasterPhAnim="0" showMasterSp="0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8792490" name="Google Shape;88;p1"/>
          <p:cNvPicPr/>
          <p:nvPr userDrawn="1"/>
        </p:nvPicPr>
        <p:blipFill>
          <a:blip r:embed="rId2">
            <a:alphaModFix/>
          </a:blip>
          <a:srcRect l="0" t="16270" r="0" b="884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6284868" name="Группа 6"/>
          <p:cNvGrpSpPr/>
          <p:nvPr userDrawn="1"/>
        </p:nvGrpSpPr>
        <p:grpSpPr bwMode="auto"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/>
            <p:cNvPicPr/>
            <p:nvPr userDrawn="1"/>
          </p:nvPicPr>
          <p:blipFill>
            <a:blip r:embed="rId3">
              <a:alphaModFix/>
            </a:blip>
            <a:stretch/>
          </p:blipFill>
          <p:spPr bwMode="auto"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/>
            <p:cNvSpPr/>
            <p:nvPr userDrawn="1"/>
          </p:nvSpPr>
          <p:spPr bwMode="auto"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pic>
        <p:nvPicPr>
          <p:cNvPr id="281093072" name="Рисунок 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328777628" name="Google Shape;11;p5"/>
          <p:cNvSpPr txBox="1">
            <a:spLocks noGrp="1"/>
          </p:cNvSpPr>
          <p:nvPr>
            <p:ph type="ctrTitle" hasCustomPrompt="1"/>
          </p:nvPr>
        </p:nvSpPr>
        <p:spPr bwMode="auto">
          <a:xfrm>
            <a:off x="1078287" y="831272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986063009" name="Google Shape;12;p5"/>
          <p:cNvSpPr txBox="1">
            <a:spLocks noGrp="1"/>
          </p:cNvSpPr>
          <p:nvPr>
            <p:ph type="subTitle" idx="1" hasCustomPrompt="1"/>
          </p:nvPr>
        </p:nvSpPr>
        <p:spPr bwMode="auto"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/>
                <a:cs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r>
              <a:rPr lang="ru-RU"/>
              <a:t>Подзаголовок слайда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, подзаголовок и объект" preserve="0" showMasterPhAnim="0" showMasterSp="1" userDrawn="1">
  <p:cSld name="Заголовок, подзаголовок и объект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21300" name="Google Shape;28;p8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/>
                <a:ea typeface="Open Sans"/>
                <a:cs typeface="ALS Sector Regular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2074192319" name="Google Shape;30;p8"/>
          <p:cNvSpPr txBox="1">
            <a:spLocks noGrp="1"/>
          </p:cNvSpPr>
          <p:nvPr>
            <p:ph type="body" idx="2" hasCustomPrompt="1"/>
          </p:nvPr>
        </p:nvSpPr>
        <p:spPr bwMode="auto"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/>
                <a:ea typeface="Open Sans"/>
                <a:cs typeface="ALS Sector Regular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395712113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Подзаголовок и Сравнение" preserve="0" showMasterPhAnim="0" showMasterSp="1" userDrawn="1">
  <p:cSld name="Подзаголовок и 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017389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52156694" name="Google Shape;47;p11"/>
          <p:cNvSpPr txBox="1">
            <a:spLocks noGrp="1"/>
          </p:cNvSpPr>
          <p:nvPr>
            <p:ph type="body" idx="13" hasCustomPrompt="1"/>
          </p:nvPr>
        </p:nvSpPr>
        <p:spPr bwMode="auto">
          <a:xfrm>
            <a:off x="558781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/>
                <a:ea typeface="Open Sans"/>
                <a:cs typeface="ALS Sector Regular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1649026491" name="Google Shape;48;p11"/>
          <p:cNvSpPr txBox="1">
            <a:spLocks noGrp="1"/>
          </p:cNvSpPr>
          <p:nvPr>
            <p:ph type="body" idx="2" hasCustomPrompt="1"/>
          </p:nvPr>
        </p:nvSpPr>
        <p:spPr bwMode="auto">
          <a:xfrm>
            <a:off x="6241899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/>
                <a:ea typeface="Open Sans"/>
                <a:cs typeface="ALS Sector Regular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1988577943" name="Google Shape;30;p8"/>
          <p:cNvSpPr txBox="1">
            <a:spLocks noGrp="1"/>
          </p:cNvSpPr>
          <p:nvPr>
            <p:ph type="body" idx="14" hasCustomPrompt="1"/>
          </p:nvPr>
        </p:nvSpPr>
        <p:spPr bwMode="auto"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/>
                <a:ea typeface="Open Sans"/>
                <a:cs typeface="ALS Sector Regular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ru-RU"/>
              <a:t>Подзаголовок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олько заголовок" preserve="0" showMasterPhAnim="0" showMasterSp="1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17144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Пустой слайд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205163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, текст и объект" preserve="0" showMasterPhAnim="0" showMasterSp="1" userDrawn="1">
  <p:cSld name="Заголовок, текст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791343" name="Google Shape;81;p17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5183187" y="1301263"/>
            <a:ext cx="6735184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/>
                <a:ea typeface="Open Sans"/>
                <a:cs typeface="ALS Sector Regular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497365657" name="Google Shape;82;p17"/>
          <p:cNvSpPr txBox="1">
            <a:spLocks noGrp="1"/>
          </p:cNvSpPr>
          <p:nvPr>
            <p:ph type="body" idx="2" hasCustomPrompt="1"/>
          </p:nvPr>
        </p:nvSpPr>
        <p:spPr bwMode="auto"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/>
                <a:ea typeface="Open Sans"/>
                <a:cs typeface="ALS Sector Regular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1770818017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Объект с подписью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706978" name="Google Shape;75;p16"/>
          <p:cNvSpPr txBox="1">
            <a:spLocks noGrp="1"/>
          </p:cNvSpPr>
          <p:nvPr>
            <p:ph type="title" hasCustomPrompt="1"/>
          </p:nvPr>
        </p:nvSpPr>
        <p:spPr bwMode="auto">
          <a:xfrm>
            <a:off x="273628" y="1213657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/>
                <a:ea typeface="Open Sans"/>
                <a:cs typeface="ALS Sector 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ru-RU" sz="2700"/>
              <a:t>Заголовок слайда</a:t>
            </a:r>
            <a:endParaRPr/>
          </a:p>
        </p:txBody>
      </p:sp>
      <p:sp>
        <p:nvSpPr>
          <p:cNvPr id="399425423" name="Google Shape;76;p16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5183187" y="311727"/>
            <a:ext cx="6735184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/>
                <a:cs typeface="ALS Sector Regular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990907973" name="Google Shape;77;p16"/>
          <p:cNvSpPr txBox="1">
            <a:spLocks noGrp="1"/>
          </p:cNvSpPr>
          <p:nvPr>
            <p:ph type="body" idx="2" hasCustomPrompt="1"/>
          </p:nvPr>
        </p:nvSpPr>
        <p:spPr bwMode="auto"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/>
                <a:ea typeface="Open Sans"/>
                <a:cs typeface="ALS Sector Regular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1863354858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исунок с подписью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15836" name="Google Shape;85;p18"/>
          <p:cNvSpPr txBox="1">
            <a:spLocks noGrp="1"/>
          </p:cNvSpPr>
          <p:nvPr>
            <p:ph type="title" hasCustomPrompt="1"/>
          </p:nvPr>
        </p:nvSpPr>
        <p:spPr bwMode="auto"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/>
                <a:ea typeface="Open Sans"/>
                <a:cs typeface="ALS Sector 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ru-RU" sz="2700"/>
              <a:t>Заголовок слайда</a:t>
            </a:r>
            <a:endParaRPr/>
          </a:p>
        </p:txBody>
      </p:sp>
      <p:sp>
        <p:nvSpPr>
          <p:cNvPr id="2094868219" name="Google Shape;86;p18"/>
          <p:cNvSpPr>
            <a:spLocks noGrp="1"/>
          </p:cNvSpPr>
          <p:nvPr>
            <p:ph type="pic" idx="2" hasCustomPrompt="1"/>
          </p:nvPr>
        </p:nvSpPr>
        <p:spPr bwMode="auto"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/>
                <a:cs typeface="ALS Sector Regular"/>
              </a:defRPr>
            </a:lvl1pPr>
          </a:lstStyle>
          <a:p>
            <a:pPr>
              <a:defRPr/>
            </a:pPr>
            <a:r>
              <a:rPr lang="ru-RU"/>
              <a:t>Рисунок</a:t>
            </a:r>
            <a:endParaRPr/>
          </a:p>
        </p:txBody>
      </p:sp>
      <p:sp>
        <p:nvSpPr>
          <p:cNvPr id="2141459836" name="Google Shape;87;p18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/>
                <a:ea typeface="Open Sans"/>
                <a:cs typeface="ALS Sector Regular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/>
          </a:p>
        </p:txBody>
      </p:sp>
      <p:sp>
        <p:nvSpPr>
          <p:cNvPr id="138137594" name="Google Shape;83;p17"/>
          <p:cNvSpPr txBox="1"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крывающий слайд пустой" preserve="0" showMasterPhAnim="0" showMasterSp="1" userDrawn="1">
  <p:cSld name="Закрывающий слайд 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7030629" name="Google Shape;88;p1"/>
          <p:cNvPicPr/>
          <p:nvPr userDrawn="1"/>
        </p:nvPicPr>
        <p:blipFill>
          <a:blip r:embed="rId2">
            <a:alphaModFix/>
          </a:blip>
          <a:srcRect l="0" t="16270" r="0" b="884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250620" name="Рисунок 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655715276" name="Рисунок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089863498" name="TextBox 28"/>
          <p:cNvSpPr txBox="1"/>
          <p:nvPr userDrawn="1"/>
        </p:nvSpPr>
        <p:spPr bwMode="auto"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2800">
                <a:solidFill>
                  <a:schemeClr val="bg1"/>
                </a:solidFill>
                <a:latin typeface="ALS Sector Bold"/>
                <a:ea typeface="Roboto Black"/>
              </a:rPr>
              <a:t>do.bmstu.ru</a:t>
            </a:r>
            <a:endParaRPr lang="ru-RU" sz="2800">
              <a:solidFill>
                <a:schemeClr val="bg1"/>
              </a:solidFill>
              <a:latin typeface="ALS Sector Bold"/>
              <a:ea typeface="Roboto Black"/>
            </a:endParaRPr>
          </a:p>
        </p:txBody>
      </p:sp>
      <p:sp>
        <p:nvSpPr>
          <p:cNvPr id="1181995476" name="Прямоугольник 58"/>
          <p:cNvSpPr/>
          <p:nvPr userDrawn="1"/>
        </p:nvSpPr>
        <p:spPr bwMode="auto"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 fill="norm" stroke="1" extrusionOk="0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ALS Sector Regula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9562163" name="Рисунок 2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175519763" name="Google Shape;7;p4"/>
          <p:cNvSpPr txBox="1">
            <a:spLocks noGrp="1"/>
          </p:cNvSpPr>
          <p:nvPr>
            <p:ph type="body" idx="1"/>
          </p:nvPr>
        </p:nvSpPr>
        <p:spPr bwMode="auto"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2pPr>
            <a:lvl3pPr marL="1371600" marR="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r>
              <a:rPr lang="ru-RU"/>
              <a:t>Текст слайда</a:t>
            </a:r>
            <a:endParaRPr lang="en-US" sz="2300">
              <a:latin typeface="ALS Sector Regular"/>
              <a:cs typeface="ALS Sector Regular"/>
            </a:endParaRPr>
          </a:p>
          <a:p>
            <a:pPr>
              <a:defRPr/>
            </a:pPr>
            <a:endParaRPr/>
          </a:p>
        </p:txBody>
      </p:sp>
      <p:sp>
        <p:nvSpPr>
          <p:cNvPr id="548997259" name="Google Shape;8;p4"/>
          <p:cNvSpPr txBox="1">
            <a:spLocks noGrp="1"/>
          </p:cNvSpPr>
          <p:nvPr>
            <p:ph type="sldNum" idx="12"/>
          </p:nvPr>
        </p:nvSpPr>
        <p:spPr bwMode="auto"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</a:defRPr>
            </a:lvl1pPr>
            <a:lvl2pPr marL="0" marR="0" lvl="1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l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>
          <a:solidFill>
            <a:srgbClr val="000000"/>
          </a:solidFill>
          <a:latin typeface="+mn-lt"/>
          <a:ea typeface="ALS Sector Regular"/>
          <a:cs typeface="ALS Sector Regular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03161" name="Заголовок 1"/>
          <p:cNvSpPr>
            <a:spLocks noGrp="1"/>
          </p:cNvSpPr>
          <p:nvPr>
            <p:ph type="ctrTitle"/>
          </p:nvPr>
        </p:nvSpPr>
        <p:spPr bwMode="auto">
          <a:xfrm flipH="0" flipV="0">
            <a:off x="1078286" y="831271"/>
            <a:ext cx="10207049" cy="3416635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ctr" anchorCtr="0" forceAA="0" upright="0" compatLnSpc="0">
            <a:noAutofit/>
          </a:bodyPr>
          <a:lstStyle/>
          <a:p>
            <a:pPr algn="ctr">
              <a:defRPr/>
            </a:pPr>
            <a:r>
              <a:rPr lang="ru-RU">
                <a:latin typeface="+mj-lt"/>
              </a:rPr>
              <a:t>Выпускная квалификационная работа по курсу </a:t>
            </a:r>
            <a:r>
              <a:rPr lang="ru-RU">
                <a:latin typeface="ALS Sector Bold"/>
              </a:rPr>
              <a:t>«</a:t>
            </a:r>
            <a:r>
              <a:rPr lang="en-US">
                <a:latin typeface="ALS Sector Bold"/>
              </a:rPr>
              <a:t>Data Science Pro</a:t>
            </a:r>
            <a:r>
              <a:rPr lang="ru-RU">
                <a:latin typeface="ALS Sector Bold"/>
              </a:rPr>
              <a:t>»</a:t>
            </a:r>
            <a:endParaRPr/>
          </a:p>
        </p:txBody>
      </p:sp>
      <p:sp>
        <p:nvSpPr>
          <p:cNvPr id="1497232700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078286" y="4363658"/>
            <a:ext cx="9119010" cy="874168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Лосяков Сергей Геннадьевич</a:t>
            </a:r>
            <a:endParaRPr lang="en-US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5480279" name="Группа 64"/>
          <p:cNvGrpSpPr/>
          <p:nvPr/>
        </p:nvGrpSpPr>
        <p:grpSpPr bwMode="auto"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68" name="Прямоугольник 67"/>
            <p:cNvSpPr/>
            <p:nvPr/>
          </p:nvSpPr>
          <p:spPr bwMode="auto"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Оглавление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69" name="Прямоугольник 58"/>
            <p:cNvSpPr/>
            <p:nvPr/>
          </p:nvSpPr>
          <p:spPr bwMode="auto"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70" name="Прямоугольник 58"/>
            <p:cNvSpPr>
              <a:spLocks noChangeAspect="1"/>
            </p:cNvSpPr>
            <p:nvPr/>
          </p:nvSpPr>
          <p:spPr bwMode="auto"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  <p:sp>
        <p:nvSpPr>
          <p:cNvPr id="1316790564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2</a:t>
            </a:fld>
            <a:endParaRPr lang="ru-RU"/>
          </a:p>
        </p:txBody>
      </p:sp>
      <p:sp>
        <p:nvSpPr>
          <p:cNvPr id="399148726" name="Google Shape;125;p4"/>
          <p:cNvSpPr/>
          <p:nvPr/>
        </p:nvSpPr>
        <p:spPr bwMode="auto">
          <a:xfrm>
            <a:off x="1408142" y="1902735"/>
            <a:ext cx="6228348" cy="4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 b="1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Введение</a:t>
            </a:r>
            <a:endParaRPr sz="2600">
              <a:solidFill>
                <a:srgbClr val="262626"/>
              </a:solidFill>
              <a:latin typeface="ALS Sector Regular"/>
              <a:ea typeface="Open Sans"/>
              <a:cs typeface="ALS Sector Regular"/>
            </a:endParaRPr>
          </a:p>
        </p:txBody>
      </p:sp>
      <p:grpSp>
        <p:nvGrpSpPr>
          <p:cNvPr id="370347506" name="Группа 35"/>
          <p:cNvGrpSpPr/>
          <p:nvPr/>
        </p:nvGrpSpPr>
        <p:grpSpPr bwMode="auto">
          <a:xfrm>
            <a:off x="558781" y="2764010"/>
            <a:ext cx="450202" cy="685765"/>
            <a:chOff x="623996" y="1592262"/>
            <a:chExt cx="333947" cy="508681"/>
          </a:xfrm>
        </p:grpSpPr>
        <p:cxnSp>
          <p:nvCxnSpPr>
            <p:cNvPr id="37" name="Google Shape;123;p4"/>
            <p:cNvCxnSpPr/>
            <p:nvPr/>
          </p:nvCxnSpPr>
          <p:spPr bwMode="auto"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/>
            <p:cNvCxnSpPr/>
            <p:nvPr/>
          </p:nvCxnSpPr>
          <p:spPr bwMode="auto"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/>
            <p:cNvCxnSpPr/>
            <p:nvPr/>
          </p:nvCxnSpPr>
          <p:spPr bwMode="auto"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54834187" name="Группа 39"/>
          <p:cNvGrpSpPr/>
          <p:nvPr/>
        </p:nvGrpSpPr>
        <p:grpSpPr bwMode="auto">
          <a:xfrm>
            <a:off x="558781" y="3718024"/>
            <a:ext cx="450202" cy="685765"/>
            <a:chOff x="623996" y="1592262"/>
            <a:chExt cx="333947" cy="508681"/>
          </a:xfrm>
        </p:grpSpPr>
        <p:cxnSp>
          <p:nvCxnSpPr>
            <p:cNvPr id="41" name="Google Shape;123;p4"/>
            <p:cNvCxnSpPr/>
            <p:nvPr/>
          </p:nvCxnSpPr>
          <p:spPr bwMode="auto"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/>
            <p:cNvCxnSpPr/>
            <p:nvPr/>
          </p:nvCxnSpPr>
          <p:spPr bwMode="auto"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/>
            <p:cNvCxnSpPr/>
            <p:nvPr/>
          </p:nvCxnSpPr>
          <p:spPr bwMode="auto"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139944172" name="Группа 43"/>
          <p:cNvGrpSpPr/>
          <p:nvPr/>
        </p:nvGrpSpPr>
        <p:grpSpPr bwMode="auto">
          <a:xfrm>
            <a:off x="560161" y="4682738"/>
            <a:ext cx="450202" cy="685765"/>
            <a:chOff x="623996" y="1592262"/>
            <a:chExt cx="333947" cy="508681"/>
          </a:xfrm>
        </p:grpSpPr>
        <p:cxnSp>
          <p:nvCxnSpPr>
            <p:cNvPr id="45" name="Google Shape;123;p4"/>
            <p:cNvCxnSpPr/>
            <p:nvPr/>
          </p:nvCxnSpPr>
          <p:spPr bwMode="auto"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124;p4"/>
            <p:cNvCxnSpPr/>
            <p:nvPr/>
          </p:nvCxnSpPr>
          <p:spPr bwMode="auto"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126;p4"/>
            <p:cNvCxnSpPr/>
            <p:nvPr/>
          </p:nvCxnSpPr>
          <p:spPr bwMode="auto"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7476766" name="Google Shape;125;p4"/>
          <p:cNvSpPr/>
          <p:nvPr/>
        </p:nvSpPr>
        <p:spPr bwMode="auto">
          <a:xfrm>
            <a:off x="1408142" y="2841600"/>
            <a:ext cx="6226548" cy="4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 b="1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Аналитическая часть</a:t>
            </a:r>
            <a:endParaRPr lang="ru-RU" sz="2600">
              <a:solidFill>
                <a:srgbClr val="262626"/>
              </a:solidFill>
              <a:latin typeface="ALS Sector Regular"/>
              <a:ea typeface="Open Sans"/>
              <a:cs typeface="ALS Sector Regular"/>
            </a:endParaRPr>
          </a:p>
        </p:txBody>
      </p:sp>
      <p:sp>
        <p:nvSpPr>
          <p:cNvPr id="86647379" name="Google Shape;127;p4"/>
          <p:cNvSpPr/>
          <p:nvPr/>
        </p:nvSpPr>
        <p:spPr bwMode="auto">
          <a:xfrm>
            <a:off x="843936" y="3014632"/>
            <a:ext cx="1078405" cy="64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baseline="30000">
                <a:solidFill>
                  <a:srgbClr val="065CAB"/>
                </a:solidFill>
                <a:latin typeface="+mn-lt"/>
                <a:ea typeface="Arial"/>
                <a:cs typeface="Arial"/>
              </a:rPr>
              <a:t>2</a:t>
            </a:r>
            <a:endParaRPr sz="3600" baseline="30000">
              <a:solidFill>
                <a:srgbClr val="065CAB"/>
              </a:solidFill>
              <a:latin typeface="+mn-lt"/>
              <a:ea typeface="Arial"/>
              <a:cs typeface="Arial"/>
            </a:endParaRPr>
          </a:p>
        </p:txBody>
      </p:sp>
      <p:sp>
        <p:nvSpPr>
          <p:cNvPr id="1563186973" name="Google Shape;125;p4"/>
          <p:cNvSpPr/>
          <p:nvPr/>
        </p:nvSpPr>
        <p:spPr bwMode="auto">
          <a:xfrm>
            <a:off x="1408142" y="3800062"/>
            <a:ext cx="6226188" cy="4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 b="1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Практическая часть</a:t>
            </a:r>
            <a:endParaRPr lang="ru-RU" sz="2600">
              <a:solidFill>
                <a:srgbClr val="262626"/>
              </a:solidFill>
              <a:latin typeface="ALS Sector Regular"/>
              <a:ea typeface="Open Sans"/>
              <a:cs typeface="ALS Sector Regular"/>
            </a:endParaRPr>
          </a:p>
        </p:txBody>
      </p:sp>
      <p:sp>
        <p:nvSpPr>
          <p:cNvPr id="175880319" name="Google Shape;127;p4"/>
          <p:cNvSpPr/>
          <p:nvPr/>
        </p:nvSpPr>
        <p:spPr bwMode="auto">
          <a:xfrm>
            <a:off x="843936" y="3984477"/>
            <a:ext cx="1078405" cy="64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baseline="30000">
                <a:solidFill>
                  <a:srgbClr val="065CAB"/>
                </a:solidFill>
                <a:latin typeface="+mn-lt"/>
                <a:ea typeface="Arial"/>
                <a:cs typeface="Arial"/>
              </a:rPr>
              <a:t>3</a:t>
            </a:r>
            <a:endParaRPr sz="3600" baseline="30000">
              <a:solidFill>
                <a:srgbClr val="065CAB"/>
              </a:solidFill>
              <a:latin typeface="+mn-lt"/>
              <a:ea typeface="Arial"/>
              <a:cs typeface="Arial"/>
            </a:endParaRPr>
          </a:p>
        </p:txBody>
      </p:sp>
      <p:sp>
        <p:nvSpPr>
          <p:cNvPr id="1212384449" name="Google Shape;125;p4"/>
          <p:cNvSpPr/>
          <p:nvPr/>
        </p:nvSpPr>
        <p:spPr bwMode="auto">
          <a:xfrm>
            <a:off x="1408142" y="4770344"/>
            <a:ext cx="6223308" cy="4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 b="1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Заключение</a:t>
            </a:r>
            <a:endParaRPr lang="ru-RU" sz="2600">
              <a:solidFill>
                <a:srgbClr val="262626"/>
              </a:solidFill>
              <a:latin typeface="ALS Sector Regular"/>
              <a:ea typeface="Open Sans"/>
              <a:cs typeface="ALS Sector Regular"/>
            </a:endParaRPr>
          </a:p>
        </p:txBody>
      </p:sp>
      <p:sp>
        <p:nvSpPr>
          <p:cNvPr id="24850698" name="Google Shape;127;p4"/>
          <p:cNvSpPr/>
          <p:nvPr/>
        </p:nvSpPr>
        <p:spPr bwMode="auto">
          <a:xfrm>
            <a:off x="843936" y="4951908"/>
            <a:ext cx="1078405" cy="64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baseline="30000">
                <a:solidFill>
                  <a:srgbClr val="065CAB"/>
                </a:solidFill>
                <a:latin typeface="+mn-lt"/>
                <a:ea typeface="Arial"/>
                <a:cs typeface="Arial"/>
              </a:rPr>
              <a:t>4</a:t>
            </a:r>
            <a:endParaRPr sz="3600" baseline="30000">
              <a:solidFill>
                <a:srgbClr val="065CAB"/>
              </a:solidFill>
              <a:latin typeface="+mn-lt"/>
              <a:ea typeface="Arial"/>
              <a:cs typeface="Arial"/>
            </a:endParaRPr>
          </a:p>
        </p:txBody>
      </p:sp>
      <p:grpSp>
        <p:nvGrpSpPr>
          <p:cNvPr id="2096682415" name="Группа 59"/>
          <p:cNvGrpSpPr/>
          <p:nvPr/>
        </p:nvGrpSpPr>
        <p:grpSpPr bwMode="auto">
          <a:xfrm>
            <a:off x="558781" y="1778381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/>
            <p:cNvCxnSpPr/>
            <p:nvPr/>
          </p:nvCxnSpPr>
          <p:spPr bwMode="auto"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/>
            <p:cNvCxnSpPr/>
            <p:nvPr/>
          </p:nvCxnSpPr>
          <p:spPr bwMode="auto"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/>
            <p:cNvCxnSpPr/>
            <p:nvPr/>
          </p:nvCxnSpPr>
          <p:spPr bwMode="auto"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5583900" name="Google Shape;127;p4"/>
          <p:cNvSpPr/>
          <p:nvPr/>
        </p:nvSpPr>
        <p:spPr bwMode="auto">
          <a:xfrm>
            <a:off x="843936" y="2029003"/>
            <a:ext cx="1078405" cy="64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baseline="30000">
                <a:solidFill>
                  <a:srgbClr val="065CAB"/>
                </a:solidFill>
                <a:latin typeface="+mn-lt"/>
                <a:ea typeface="Arial"/>
                <a:cs typeface="Arial"/>
              </a:rPr>
              <a:t>1</a:t>
            </a:r>
            <a:endParaRPr sz="3600" baseline="30000">
              <a:solidFill>
                <a:srgbClr val="065CAB"/>
              </a:solidFill>
              <a:latin typeface="+mn-lt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259636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7" y="1935879"/>
            <a:ext cx="11350868" cy="4352701"/>
          </a:xfrm>
        </p:spPr>
        <p:txBody>
          <a:bodyPr>
            <a:normAutofit/>
          </a:bodyPr>
          <a:lstStyle/>
          <a:p>
            <a:pPr marL="76200" indent="0" algn="just">
              <a:buNone/>
              <a:defRPr/>
            </a:pPr>
            <a:endParaRPr lang="ru-RU" sz="2200"/>
          </a:p>
          <a:p>
            <a:pPr marL="533400" indent="-457200" algn="just">
              <a:buFont typeface="+mj-lt"/>
              <a:buAutoNum type="arabicPeriod"/>
              <a:defRPr/>
            </a:pPr>
            <a:r>
              <a:rPr/>
              <a:t>Обучить алгоритм машинного обучения, который будет определять значения</a:t>
            </a:r>
            <a:r>
              <a:rPr lang="en-US" sz="2200"/>
              <a:t>: </a:t>
            </a:r>
            <a:r>
              <a:rPr lang="ru-RU"/>
              <a:t>м</a:t>
            </a:r>
            <a:r>
              <a:rPr/>
              <a:t>одуль упругости при растяжении</a:t>
            </a:r>
            <a:r>
              <a:rPr lang="ru-RU"/>
              <a:t> и </a:t>
            </a:r>
            <a:r>
              <a:rPr lang="ru-RU"/>
              <a:t>п</a:t>
            </a:r>
            <a:r>
              <a:rPr/>
              <a:t>рочность при растяжении</a:t>
            </a:r>
            <a:r>
              <a:rPr lang="en-US" sz="2200"/>
              <a:t>;</a:t>
            </a:r>
            <a:endParaRPr lang="en-US" sz="2200"/>
          </a:p>
          <a:p>
            <a:pPr marL="533399" indent="-457200" algn="just">
              <a:buFont typeface="+mj-lt"/>
              <a:buAutoNum type="arabicPeriod"/>
              <a:defRPr/>
            </a:pPr>
            <a:r>
              <a:rPr lang="ru-RU"/>
              <a:t>н</a:t>
            </a:r>
            <a:r>
              <a:rPr/>
              <a:t>аписать нейронную сеть, которая будет рекомендовать</a:t>
            </a:r>
            <a:r>
              <a:rPr lang="ru-RU" sz="2200"/>
              <a:t> соотношение матрица-наполнитель</a:t>
            </a:r>
            <a:r>
              <a:rPr lang="en-US" sz="2200"/>
              <a:t>;</a:t>
            </a:r>
            <a:endParaRPr lang="en-US" sz="2200"/>
          </a:p>
          <a:p>
            <a:pPr marL="533399" indent="-457200" algn="just">
              <a:buFont typeface="+mj-lt"/>
              <a:buAutoNum type="arabicPeriod"/>
              <a:defRPr/>
            </a:pPr>
            <a:r>
              <a:rPr lang="ru-RU" sz="2200"/>
              <a:t>Написать приложение, которое будет выдавать прогноз.</a:t>
            </a:r>
            <a:endParaRPr lang="en-US"/>
          </a:p>
          <a:p>
            <a:pPr marL="76199" indent="0" algn="just">
              <a:buClr>
                <a:schemeClr val="accent1"/>
              </a:buClr>
              <a:buSzPts val="2400"/>
              <a:buFont typeface="+mj-lt"/>
              <a:buNone/>
              <a:defRPr/>
            </a:pPr>
            <a:endParaRPr/>
          </a:p>
        </p:txBody>
      </p:sp>
      <p:sp>
        <p:nvSpPr>
          <p:cNvPr id="1003038276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7" y="1333690"/>
            <a:ext cx="11350503" cy="60069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600"/>
              <a:t>Задачи данной работы</a:t>
            </a:r>
            <a:r>
              <a:rPr lang="en-US" sz="2600"/>
              <a:t>:</a:t>
            </a:r>
            <a:endParaRPr/>
          </a:p>
        </p:txBody>
      </p:sp>
      <p:sp>
        <p:nvSpPr>
          <p:cNvPr id="2047528767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3</a:t>
            </a:fld>
            <a:endParaRPr lang="ru-RU"/>
          </a:p>
        </p:txBody>
      </p:sp>
      <p:grpSp>
        <p:nvGrpSpPr>
          <p:cNvPr id="177967383" name="Группа 7"/>
          <p:cNvGrpSpPr/>
          <p:nvPr/>
        </p:nvGrpSpPr>
        <p:grpSpPr bwMode="auto"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9" name="Прямоугольник 8"/>
            <p:cNvSpPr/>
            <p:nvPr/>
          </p:nvSpPr>
          <p:spPr bwMode="auto"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Введение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1" name="Прямоугольник 58"/>
            <p:cNvSpPr/>
            <p:nvPr/>
          </p:nvSpPr>
          <p:spPr bwMode="auto"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2" name="Прямоугольник 58"/>
            <p:cNvSpPr>
              <a:spLocks noChangeAspect="1"/>
            </p:cNvSpPr>
            <p:nvPr/>
          </p:nvSpPr>
          <p:spPr bwMode="auto"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481024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 fontScale="70000" lnSpcReduction="6000"/>
          </a:bodyPr>
          <a:lstStyle/>
          <a:p>
            <a:pPr marL="76199" indent="0" algn="just">
              <a:buNone/>
              <a:defRPr/>
            </a:pPr>
            <a:endParaRPr lang="ru-RU" sz="2200"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Соотношение матрица-наполнитель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Плотность, кг/м³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Модуль упругости, ГПа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Количество отвердителя, м.%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Содержание эпоксидных групп, %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Температура вспышки, °C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Поверхностная плотность, г/м²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Потребление смолы, г/м²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Угол нашивки, градусы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Шаг нашивки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r>
              <a:rPr/>
              <a:t>Плотность нашивки</a:t>
            </a:r>
            <a:endParaRPr/>
          </a:p>
          <a:p>
            <a:pPr marL="533399" indent="-457200" algn="just">
              <a:buFont typeface="+mj-lt"/>
              <a:buAutoNum type="arabicPeriod"/>
              <a:defRPr/>
            </a:pPr>
            <a:endParaRPr/>
          </a:p>
          <a:p>
            <a:pPr marL="76199" indent="0" algn="just">
              <a:buClr>
                <a:schemeClr val="accent1"/>
              </a:buClr>
              <a:buSzPts val="2400"/>
              <a:buFont typeface="+mj-lt"/>
              <a:buNone/>
              <a:defRPr/>
            </a:pPr>
            <a:r>
              <a:rPr lang="ru-RU"/>
              <a:t>Датасет содержит 1023 записи, пропуски в записях отсутствуют.</a:t>
            </a:r>
            <a:endParaRPr/>
          </a:p>
        </p:txBody>
      </p:sp>
      <p:sp>
        <p:nvSpPr>
          <p:cNvPr id="1284865943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Входные переменные</a:t>
            </a:r>
            <a:endParaRPr/>
          </a:p>
        </p:txBody>
      </p:sp>
      <p:sp>
        <p:nvSpPr>
          <p:cNvPr id="503009176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E68C50A7-27BD-4188-70F8-9D3992F7CCEE}" type="slidenum">
              <a:rPr lang="ru-RU"/>
              <a:t/>
            </a:fld>
            <a:endParaRPr lang="ru-RU"/>
          </a:p>
        </p:txBody>
      </p:sp>
      <p:grpSp>
        <p:nvGrpSpPr>
          <p:cNvPr id="1674312645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919688687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Аналитическая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381979310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900807611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  <p:pic>
        <p:nvPicPr>
          <p:cNvPr id="6882277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15382" y="1333689"/>
            <a:ext cx="5111059" cy="1996669"/>
          </a:xfrm>
          <a:prstGeom prst="rect">
            <a:avLst/>
          </a:prstGeom>
        </p:spPr>
      </p:pic>
      <p:pic>
        <p:nvPicPr>
          <p:cNvPr id="3747080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206153" y="3590192"/>
            <a:ext cx="3226213" cy="2913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5664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5144" y="2692644"/>
            <a:ext cx="6024992" cy="4016661"/>
          </a:xfrm>
          <a:prstGeom prst="rect">
            <a:avLst/>
          </a:prstGeom>
        </p:spPr>
      </p:pic>
      <p:sp>
        <p:nvSpPr>
          <p:cNvPr id="1345837137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indent="0" algn="just">
              <a:buClr>
                <a:schemeClr val="accent1"/>
              </a:buClr>
              <a:buSzPts val="2400"/>
              <a:buFont typeface="+mj-lt"/>
              <a:buNone/>
              <a:defRPr/>
            </a:pPr>
            <a:r>
              <a:rPr/>
              <a:t>Построенная корреляционная матрица показала, что линейная корреляция между входными признаками и целевыми переменными слабо выражена (коэффициенты корреляции находятся преимущественно в диапазоне от 0.01 до 0.07)</a:t>
            </a:r>
            <a:endParaRPr/>
          </a:p>
        </p:txBody>
      </p:sp>
      <p:sp>
        <p:nvSpPr>
          <p:cNvPr id="821410198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Корреляция между входными перемнными</a:t>
            </a:r>
            <a:endParaRPr/>
          </a:p>
        </p:txBody>
      </p:sp>
      <p:sp>
        <p:nvSpPr>
          <p:cNvPr id="543207081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ADC3E42-D047-0F96-D3F5-D860CED081A9}" type="slidenum">
              <a:rPr lang="ru-RU"/>
              <a:t/>
            </a:fld>
            <a:endParaRPr lang="ru-RU"/>
          </a:p>
        </p:txBody>
      </p:sp>
      <p:grpSp>
        <p:nvGrpSpPr>
          <p:cNvPr id="1733290175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1517736658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Аналитическая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491371945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099175012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837570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marR="0" indent="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None/>
              <a:defRPr/>
            </a:pPr>
            <a:r>
              <a:rPr lang="ru-RU"/>
              <a:t>Для модели машинного обучения была выбранна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 модель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StackingRegressor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, которая объединяет несколько алгоритмов (ElasticNet, Random Forest, KNN),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которые были отобраны после сравнения передавая их выходы в финальную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модель (Linear Regression</a:t>
            </a:r>
            <a:r>
              <a:rPr lang="ru-RU"/>
              <a:t>).</a:t>
            </a:r>
            <a:endParaRPr lang="ru-RU"/>
          </a:p>
          <a:p>
            <a:pPr marL="76199" marR="0" indent="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None/>
              <a:defRPr/>
            </a:pPr>
            <a:endParaRPr/>
          </a:p>
          <a:p>
            <a:pPr marL="76199" marR="0" indent="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None/>
              <a:defRPr/>
            </a:pPr>
            <a:r>
              <a:rPr lang="ru-RU"/>
              <a:t>Для нейронной сети архитектура будет состоять из трех полносвязных слоев с функцией активации </a:t>
            </a:r>
            <a:r>
              <a:rPr lang="en-US"/>
              <a:t>tanh.</a:t>
            </a:r>
            <a:endParaRPr/>
          </a:p>
        </p:txBody>
      </p:sp>
      <p:sp>
        <p:nvSpPr>
          <p:cNvPr id="993810304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Используемые методы</a:t>
            </a:r>
            <a:endParaRPr/>
          </a:p>
        </p:txBody>
      </p:sp>
      <p:sp>
        <p:nvSpPr>
          <p:cNvPr id="2070107601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259482F3-68DF-D0CB-C740-F6DE783C5785}" type="slidenum">
              <a:rPr lang="ru-RU"/>
              <a:t/>
            </a:fld>
            <a:endParaRPr lang="ru-RU"/>
          </a:p>
        </p:txBody>
      </p:sp>
      <p:grpSp>
        <p:nvGrpSpPr>
          <p:cNvPr id="2104788134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862585029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Аналитическая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973497130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234339481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72814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 fontScale="95000" lnSpcReduction="1000"/>
          </a:bodyPr>
          <a:lstStyle/>
          <a:p>
            <a:pPr marL="533399" indent="-457200" algn="just">
              <a:buFont typeface="+mj-lt"/>
              <a:buAutoNum type="arabicPeriod"/>
              <a:defRPr/>
            </a:pP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Анализ распределения признаков – для признаков использовались гистограммы и описательная статистика (среднее, медиана, минимум, максимум и стандартное отклонение)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  <a:endParaRPr lang="en-US" sz="2300" b="0" i="0" u="none" strike="noStrike" cap="none" spc="0">
              <a:solidFill>
                <a:srgbClr val="262626"/>
              </a:solidFill>
              <a:latin typeface="Times New Roman"/>
              <a:cs typeface="Times New Roman"/>
            </a:endParaRPr>
          </a:p>
          <a:p>
            <a:pPr marL="533399" marR="0" indent="-45720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AutoNum type="arabicPeriod" startAt="2"/>
              <a:defRPr/>
            </a:pP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Обработка выбросов – применялся метод межквартильного размаха (</a:t>
            </a:r>
            <a:r>
              <a:rPr lang="en-US" sz="2300" b="0" i="0" u="none" strike="noStrike" cap="none" spc="0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IQR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)</a:t>
            </a:r>
            <a:r>
              <a:rPr lang="en-US" sz="2300" b="0" i="0" u="none" strike="noStrike" cap="none" spc="0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,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Open Sans"/>
                <a:cs typeface="ALS Sector Regular"/>
              </a:rPr>
              <a:t>значения за пределелами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[Q1 – 1.5·IQR, Q3 + 1.5·IQR] были обрезаны или исключены из анализа.</a:t>
            </a:r>
            <a:endParaRPr lang="ru-RU" sz="2300" b="0" i="0" u="none" strike="noStrike" cap="none" spc="0">
              <a:solidFill>
                <a:srgbClr val="262626"/>
              </a:solidFill>
              <a:latin typeface="Times New Roman"/>
              <a:cs typeface="Times New Roman"/>
            </a:endParaRPr>
          </a:p>
          <a:p>
            <a:pPr marL="533399" marR="0" indent="-45720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AutoNum type="arabicPeriod" startAt="3"/>
              <a:defRPr/>
            </a:pP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Корреляционный анализ – б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ыло выявлено, что некоторые признаки имеют низкую корреляцию с целевыми (|r| &lt; 0.04) и были исключены из дальнейшего анализа, поскольку не вносили полезную информацию в предсказание, а наоборот делали хуже.</a:t>
            </a:r>
            <a:endParaRPr lang="ru-RU" sz="2300" b="0" i="0" u="none" strike="noStrike" cap="none" spc="0">
              <a:solidFill>
                <a:srgbClr val="262626"/>
              </a:solidFill>
              <a:latin typeface="ALS Sector Regular"/>
              <a:ea typeface="ALS Sector Regular"/>
              <a:cs typeface="ALS Sector Regular"/>
            </a:endParaRPr>
          </a:p>
          <a:p>
            <a:pPr marL="533399" marR="0" indent="-45720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AutoNum type="arabicPeriod" startAt="3"/>
              <a:defRPr/>
            </a:pP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Масштабирование данных – использовались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StandardScaler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 и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MinMaxScaler</a:t>
            </a:r>
            <a:r>
              <a:rPr lang="en-US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,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ALS Sector Regular"/>
                <a:ea typeface="ALS Sector Regular"/>
                <a:cs typeface="ALS Sector Regular"/>
              </a:rPr>
              <a:t>что позволило привести признаки к единому диапазону и обеспечить устойчивость моделей.</a:t>
            </a:r>
            <a:endParaRPr lang="ru-RU" sz="2300" b="0" i="0" u="none" strike="noStrike" cap="none" spc="0">
              <a:solidFill>
                <a:srgbClr val="262626"/>
              </a:solidFill>
              <a:latin typeface="Times New Roman"/>
              <a:cs typeface="Times New Roman"/>
            </a:endParaRPr>
          </a:p>
        </p:txBody>
      </p:sp>
      <p:sp>
        <p:nvSpPr>
          <p:cNvPr id="1091343749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Разведочный анализ данных</a:t>
            </a:r>
            <a:endParaRPr/>
          </a:p>
        </p:txBody>
      </p:sp>
      <p:sp>
        <p:nvSpPr>
          <p:cNvPr id="486144903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88DA822C-C551-EBD0-0EDA-0E796C4F601A}" type="slidenum">
              <a:rPr lang="ru-RU"/>
              <a:t/>
            </a:fld>
            <a:endParaRPr lang="ru-RU"/>
          </a:p>
        </p:txBody>
      </p:sp>
      <p:grpSp>
        <p:nvGrpSpPr>
          <p:cNvPr id="197663545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239238950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Аналитическая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627798303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774417895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405578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marR="0" indent="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None/>
              <a:defRPr/>
            </a:pPr>
            <a:r>
              <a:rPr lang="ru-RU"/>
              <a:t>Нормализация признаков </a:t>
            </a:r>
            <a:endParaRPr lang="ru-RU" sz="2300" b="0" i="0" u="none" strike="noStrike" cap="none" spc="0">
              <a:solidFill>
                <a:srgbClr val="262626"/>
              </a:solidFill>
              <a:latin typeface="Times New Roman"/>
              <a:cs typeface="Times New Roman"/>
            </a:endParaRPr>
          </a:p>
        </p:txBody>
      </p:sp>
      <p:sp>
        <p:nvSpPr>
          <p:cNvPr id="448847788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Предобработка данных</a:t>
            </a:r>
            <a:endParaRPr/>
          </a:p>
        </p:txBody>
      </p:sp>
      <p:sp>
        <p:nvSpPr>
          <p:cNvPr id="1085858675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A1E311B4-6383-3860-730D-D884E54ACFD5}" type="slidenum">
              <a:rPr lang="ru-RU"/>
              <a:t/>
            </a:fld>
            <a:endParaRPr lang="ru-RU"/>
          </a:p>
        </p:txBody>
      </p:sp>
      <p:grpSp>
        <p:nvGrpSpPr>
          <p:cNvPr id="2069954479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1408402787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Практическая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595077075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2071315356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  <p:graphicFrame>
        <p:nvGraphicFramePr>
          <p:cNvPr id="170716732" name=""/>
          <p:cNvGraphicFramePr>
            <a:graphicFrameLocks xmlns:a="http://schemas.openxmlformats.org/drawingml/2006/main"/>
          </p:cNvGraphicFramePr>
          <p:nvPr/>
        </p:nvGraphicFramePr>
        <p:xfrm>
          <a:off x="637382" y="2393283"/>
          <a:ext cx="10853057" cy="431602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903363"/>
                <a:gridCol w="903363"/>
                <a:gridCol w="903363"/>
                <a:gridCol w="903363"/>
                <a:gridCol w="903363"/>
                <a:gridCol w="903363"/>
                <a:gridCol w="903363"/>
                <a:gridCol w="903363"/>
                <a:gridCol w="903363"/>
                <a:gridCol w="903363"/>
                <a:gridCol w="903363"/>
                <a:gridCol w="903363"/>
              </a:tblGrid>
              <a:tr h="1341405"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Соотношение матрица-наполнитель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Плотность, кг/м3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модуль упругости, ГПа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Количество отвердителя, м.%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Содержание эпоксидных групп,%_2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Температура вспышки, С_2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Поверхностная плотность, г/м2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Потребление смолы, г/м2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Угол нашивки, град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Шаг нашивки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Плотность нашивки</a:t>
                      </a:r>
                      <a:endParaRPr/>
                    </a:p>
                  </a:txBody>
                  <a:tcPr vert="horz"/>
                </a:tc>
              </a:tr>
              <a:tr h="950522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Максимум (до)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5.591742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2207.773481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1911.536477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198.953207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33.000000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413.273418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1399.542362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414.590628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90.000000 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14.440522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103.988901</a:t>
                      </a:r>
                      <a:endParaRPr/>
                    </a:p>
                  </a:txBody>
                  <a:tcPr vert="horz"/>
                </a:tc>
              </a:tr>
              <a:tr h="51441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Минимум (до)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0.389403 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1731.764635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2.436909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17.740275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14.254985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100.000000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0.603740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33.803026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0.000000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0.000000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0.000000</a:t>
                      </a:r>
                      <a:endParaRPr/>
                    </a:p>
                  </a:txBody>
                  <a:tcPr vert="horz"/>
                </a:tc>
              </a:tr>
              <a:tr h="721159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Максимум (после)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2.915695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3.148712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3.549589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3.125033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4.471955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3.112932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3.260615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3.285517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1.016758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2.943275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3.793863</a:t>
                      </a:r>
                      <a:endParaRPr/>
                    </a:p>
                  </a:txBody>
                  <a:tcPr vert="horz"/>
                </a:tc>
              </a:tr>
              <a:tr h="721159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Минимум (после)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-2.783776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-3.310622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-2.234332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-3.282308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-3.321825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-4.542215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-1.714677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-3.092116 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-0.983518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-2.692680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-4.629749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2332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indent="0">
              <a:buClr>
                <a:schemeClr val="accent1"/>
              </a:buClr>
              <a:buSzPts val="2400"/>
              <a:buFont typeface="Noto Sans Symbols"/>
              <a:buNone/>
              <a:defRPr/>
            </a:pPr>
            <a:r>
              <a:rPr lang="ru-RU" sz="2300" b="0" i="0" u="none" strike="noStrike" cap="none" spc="0">
                <a:solidFill>
                  <a:srgbClr val="262626"/>
                </a:solidFill>
                <a:latin typeface="Times New Roman"/>
                <a:cs typeface="Times New Roman"/>
              </a:rPr>
              <a:t>Дополнительно были удалены </a:t>
            </a:r>
            <a:r>
              <a:rPr lang="ru-RU" sz="2300" b="0" i="0" u="none" strike="noStrike" cap="none" spc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выбросы с использованием метода межквартильного размаха (IQR). Это позволило исключить аномальные значения, которые могли бы исказить обучение моделей.</a:t>
            </a:r>
            <a:endParaRPr lang="ru-RU" sz="2300" b="0" i="0" u="none" strike="noStrike" cap="none" spc="0">
              <a:solidFill>
                <a:srgbClr val="262626"/>
              </a:solidFill>
              <a:latin typeface="Times New Roman"/>
              <a:cs typeface="Times New Roman"/>
            </a:endParaRPr>
          </a:p>
          <a:p>
            <a:pPr marL="76199" marR="0" indent="0" algn="just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+mj-lt"/>
              <a:buNone/>
              <a:defRPr/>
            </a:pPr>
            <a:r>
              <a:rPr lang="ru-RU" sz="2300" b="0" i="0" u="none" strike="noStrike" cap="none" spc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Таким образом, предобработка обеспечила корректное масштабирование признаков и очистку данных от выбросов, что является важным этапом перед построением моделей машинного обучения.</a:t>
            </a:r>
            <a:endParaRPr lang="ru-RU" sz="2300" b="0" i="0" u="none" strike="noStrike" cap="none" spc="0">
              <a:solidFill>
                <a:srgbClr val="262626"/>
              </a:solidFill>
              <a:latin typeface="Times New Roman"/>
              <a:cs typeface="Times New Roman"/>
            </a:endParaRPr>
          </a:p>
        </p:txBody>
      </p:sp>
      <p:sp>
        <p:nvSpPr>
          <p:cNvPr id="842901086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Предобработка данных</a:t>
            </a:r>
            <a:endParaRPr/>
          </a:p>
        </p:txBody>
      </p:sp>
      <p:sp>
        <p:nvSpPr>
          <p:cNvPr id="263688326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854E9D0-4D88-DAD1-8AC7-6311D7FA7489}" type="slidenum">
              <a:rPr lang="ru-RU"/>
              <a:t/>
            </a:fld>
            <a:endParaRPr lang="ru-RU"/>
          </a:p>
        </p:txBody>
      </p:sp>
      <p:grpSp>
        <p:nvGrpSpPr>
          <p:cNvPr id="1237358046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567254359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Практическая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2004174054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762484670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376914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indent="0">
              <a:buClr>
                <a:schemeClr val="accent1"/>
              </a:buClr>
              <a:buSzPts val="2400"/>
              <a:buFont typeface="Noto Sans Symbols"/>
              <a:buNone/>
              <a:defRPr/>
            </a:pPr>
            <a:endParaRPr/>
          </a:p>
        </p:txBody>
      </p:sp>
      <p:sp>
        <p:nvSpPr>
          <p:cNvPr id="1326578847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Разработка и обучение модели машинного обучения</a:t>
            </a:r>
            <a:endParaRPr/>
          </a:p>
        </p:txBody>
      </p:sp>
      <p:sp>
        <p:nvSpPr>
          <p:cNvPr id="1179770458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FF91E771-6F99-0CF0-59C8-E4E364231686}" type="slidenum">
              <a:rPr lang="ru-RU"/>
              <a:t/>
            </a:fld>
            <a:endParaRPr lang="ru-RU"/>
          </a:p>
        </p:txBody>
      </p:sp>
      <p:grpSp>
        <p:nvGrpSpPr>
          <p:cNvPr id="180101583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1638808647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Практическая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95385798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636224362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96348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indent="0">
              <a:buClr>
                <a:schemeClr val="accent1"/>
              </a:buClr>
              <a:buSzPts val="2400"/>
              <a:buFont typeface="Noto Sans Symbols"/>
              <a:buNone/>
              <a:defRPr/>
            </a:pPr>
            <a:r>
              <a:rPr/>
              <a:t>Полученные значения R² показывают, что модель слабо объясняет дисперсию в целевых переменных. Это может быть связано с высокой сложностью данных, наличием скрытых факторов или ограниченным размером выборки. Тем не менее, лучшую производительность продемонс</a:t>
            </a:r>
            <a:r>
              <a:rPr/>
              <a:t>трировал ансамбль на базе стекинга, что подтверждает выбор данной модели в качестве финальной.</a:t>
            </a:r>
            <a:endParaRPr/>
          </a:p>
        </p:txBody>
      </p:sp>
      <p:sp>
        <p:nvSpPr>
          <p:cNvPr id="974457854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Тестирование модели</a:t>
            </a:r>
            <a:r>
              <a:rPr lang="en-US"/>
              <a:t> </a:t>
            </a:r>
            <a:r>
              <a:rPr lang="ru-RU"/>
              <a:t>машинного обучения</a:t>
            </a:r>
            <a:endParaRPr/>
          </a:p>
        </p:txBody>
      </p:sp>
      <p:sp>
        <p:nvSpPr>
          <p:cNvPr id="653615728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D4780657-066B-5CD2-8BF4-29464FE8FF7E}" type="slidenum">
              <a:rPr lang="ru-RU"/>
              <a:t/>
            </a:fld>
            <a:endParaRPr lang="ru-RU"/>
          </a:p>
        </p:txBody>
      </p:sp>
      <p:grpSp>
        <p:nvGrpSpPr>
          <p:cNvPr id="2140162925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2053768683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Практическая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926761065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07005250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  <p:graphicFrame>
        <p:nvGraphicFramePr>
          <p:cNvPr id="1676093376" name=""/>
          <p:cNvGraphicFramePr>
            <a:graphicFrameLocks xmlns:a="http://schemas.openxmlformats.org/drawingml/2006/main"/>
          </p:cNvGraphicFramePr>
          <p:nvPr/>
        </p:nvGraphicFramePr>
        <p:xfrm>
          <a:off x="1329054" y="3947055"/>
          <a:ext cx="9322287" cy="241934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3103195"/>
                <a:gridCol w="3103195"/>
                <a:gridCol w="3103195"/>
              </a:tblGrid>
              <a:tr h="47375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lang="ru-RU"/>
                        <a:t>Показатель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Модуль упругости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Прочность</a:t>
                      </a:r>
                      <a:endParaRPr/>
                    </a:p>
                  </a:txBody>
                  <a:tcPr vert="horz"/>
                </a:tc>
              </a:tr>
              <a:tr h="51165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MSE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9.13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229322.27</a:t>
                      </a:r>
                      <a:endParaRPr/>
                    </a:p>
                  </a:txBody>
                  <a:tcPr vert="horz"/>
                </a:tc>
              </a:tr>
              <a:tr h="47375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MAE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2.44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371.10</a:t>
                      </a:r>
                      <a:endParaRPr/>
                    </a:p>
                  </a:txBody>
                  <a:tcPr vert="horz"/>
                </a:tc>
              </a:tr>
              <a:tr h="47375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MAPE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3.32%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16.95%</a:t>
                      </a:r>
                      <a:endParaRPr/>
                    </a:p>
                  </a:txBody>
                  <a:tcPr vert="horz"/>
                </a:tc>
              </a:tr>
              <a:tr h="47375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R²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0.061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0.045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987745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415151" indent="-338951">
              <a:buClr>
                <a:schemeClr val="accent1"/>
              </a:buClr>
              <a:buSzPts val="2400"/>
              <a:buFont typeface="Noto Sans Symbols"/>
              <a:buAutoNum type="arabicPeriod"/>
              <a:defRPr/>
            </a:pPr>
            <a:r>
              <a:rPr lang="ru-RU"/>
              <a:t>Выходной слой – количество признаков после отбора.</a:t>
            </a:r>
            <a:endParaRPr lang="ru-RU"/>
          </a:p>
          <a:p>
            <a:pPr marL="415151" indent="-338951">
              <a:buClr>
                <a:schemeClr val="accent1"/>
              </a:buClr>
              <a:buSzPts val="2400"/>
              <a:buFont typeface="Noto Sans Symbols"/>
              <a:buAutoNum type="arabicPeriod"/>
              <a:defRPr/>
            </a:pPr>
            <a:r>
              <a:rPr lang="ru-RU"/>
              <a:t>Скрытые слои </a:t>
            </a:r>
            <a:r>
              <a:rPr lang="en-US"/>
              <a:t>–</a:t>
            </a:r>
            <a:r>
              <a:rPr lang="ru-RU"/>
              <a:t> 128 </a:t>
            </a:r>
            <a:r>
              <a:rPr lang="en-US"/>
              <a:t>-</a:t>
            </a:r>
            <a:r>
              <a:rPr lang="en-US"/>
              <a:t>&gt; 64 -&gt; 32 </a:t>
            </a:r>
            <a:r>
              <a:rPr lang="ru-RU"/>
              <a:t>нейрона с активацией </a:t>
            </a:r>
            <a:r>
              <a:rPr lang="en-US"/>
              <a:t>tanh.</a:t>
            </a:r>
            <a:endParaRPr lang="en-US"/>
          </a:p>
          <a:p>
            <a:pPr marL="415151" indent="-338951">
              <a:buClr>
                <a:schemeClr val="accent1"/>
              </a:buClr>
              <a:buSzPts val="2400"/>
              <a:buFont typeface="Noto Sans Symbols"/>
              <a:buAutoNum type="arabicPeriod"/>
              <a:defRPr/>
            </a:pPr>
            <a:r>
              <a:rPr lang="ru-RU"/>
              <a:t>Выходной слой - 1 нейрон (предсказание значения соотношения).</a:t>
            </a:r>
            <a:endParaRPr lang="ru-RU"/>
          </a:p>
          <a:p>
            <a:pPr marL="415151" indent="-338951">
              <a:buClr>
                <a:schemeClr val="accent1"/>
              </a:buClr>
              <a:buSzPts val="2400"/>
              <a:buFont typeface="Noto Sans Symbols"/>
              <a:buAutoNum type="arabicPeriod"/>
              <a:defRPr/>
            </a:pPr>
            <a:r>
              <a:rPr lang="ru-RU"/>
              <a:t>Оптимизатор - </a:t>
            </a:r>
            <a:r>
              <a:rPr lang="en-US"/>
              <a:t>RMSprop.</a:t>
            </a:r>
            <a:endParaRPr lang="en-US"/>
          </a:p>
          <a:p>
            <a:pPr marL="415151" indent="-338951">
              <a:buClr>
                <a:schemeClr val="accent1"/>
              </a:buClr>
              <a:buSzPts val="2400"/>
              <a:buFont typeface="Noto Sans Symbols"/>
              <a:buAutoNum type="arabicPeriod"/>
              <a:defRPr/>
            </a:pPr>
            <a:r>
              <a:rPr lang="ru-RU"/>
              <a:t>Регуляризация переобучения – </a:t>
            </a:r>
            <a:r>
              <a:rPr lang="en-US"/>
              <a:t>EarlyStopping </a:t>
            </a:r>
            <a:r>
              <a:rPr lang="ru-RU"/>
              <a:t>по валидационным данным с параметром </a:t>
            </a:r>
            <a:r>
              <a:rPr lang="en-US"/>
              <a:t>patience = 50.</a:t>
            </a:r>
            <a:endParaRPr lang="en-US"/>
          </a:p>
        </p:txBody>
      </p:sp>
      <p:sp>
        <p:nvSpPr>
          <p:cNvPr id="1923810711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Структура нейронной сети</a:t>
            </a:r>
            <a:endParaRPr/>
          </a:p>
        </p:txBody>
      </p:sp>
      <p:sp>
        <p:nvSpPr>
          <p:cNvPr id="1121553478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1B1A98EC-1541-BF27-8046-142DD7843861}" type="slidenum">
              <a:rPr lang="ru-RU"/>
              <a:t/>
            </a:fld>
            <a:endParaRPr lang="ru-RU"/>
          </a:p>
        </p:txBody>
      </p:sp>
      <p:grpSp>
        <p:nvGrpSpPr>
          <p:cNvPr id="929061859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683550911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Практическая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392940345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196979327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761852" name="Текст 1"/>
          <p:cNvSpPr>
            <a:spLocks noGrp="1"/>
          </p:cNvSpPr>
          <p:nvPr>
            <p:ph type="body" idx="1"/>
          </p:nvPr>
        </p:nvSpPr>
        <p:spPr bwMode="auto">
          <a:xfrm>
            <a:off x="388476" y="1935878"/>
            <a:ext cx="11350867" cy="4352700"/>
          </a:xfrm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76199" indent="0">
              <a:buClr>
                <a:schemeClr val="accent1"/>
              </a:buClr>
              <a:buSzPts val="2400"/>
              <a:buFont typeface="Noto Sans Symbols"/>
              <a:buNone/>
              <a:defRPr/>
            </a:pPr>
            <a:r>
              <a:rPr/>
              <a:t>Несмотря на низкое значение R², нейросеть обучена и может использоваться в качестве вспомогательного инструмента для предварительной оценки или ранжирования возможных значений соотношения матрицы, особенно в случае отсутствия лабораторных данных.</a:t>
            </a:r>
            <a:endParaRPr/>
          </a:p>
        </p:txBody>
      </p:sp>
      <p:sp>
        <p:nvSpPr>
          <p:cNvPr id="740006875" name="Текст 2"/>
          <p:cNvSpPr>
            <a:spLocks noGrp="1"/>
          </p:cNvSpPr>
          <p:nvPr>
            <p:ph type="body" idx="2"/>
          </p:nvPr>
        </p:nvSpPr>
        <p:spPr bwMode="auto">
          <a:xfrm>
            <a:off x="213216" y="1333689"/>
            <a:ext cx="11350502" cy="60068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Тестирование нейронной сети</a:t>
            </a:r>
            <a:endParaRPr/>
          </a:p>
        </p:txBody>
      </p:sp>
      <p:sp>
        <p:nvSpPr>
          <p:cNvPr id="132052532" name="Номер слайда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C087CB84-98DB-DB45-3E38-6D52B7EACBF8}" type="slidenum">
              <a:rPr lang="ru-RU"/>
              <a:t/>
            </a:fld>
            <a:endParaRPr lang="ru-RU"/>
          </a:p>
        </p:txBody>
      </p:sp>
      <p:grpSp>
        <p:nvGrpSpPr>
          <p:cNvPr id="1869944115" name="Группа 7"/>
          <p:cNvGrpSpPr/>
          <p:nvPr/>
        </p:nvGrpSpPr>
        <p:grpSpPr bwMode="auto">
          <a:xfrm flipH="0" flipV="0">
            <a:off x="3167879" y="469292"/>
            <a:ext cx="4508946" cy="666000"/>
            <a:chOff x="0" y="0"/>
            <a:chExt cx="4508946" cy="666000"/>
          </a:xfrm>
        </p:grpSpPr>
        <p:sp>
          <p:nvSpPr>
            <p:cNvPr id="1865344305" name="Прямоугольник 8"/>
            <p:cNvSpPr/>
            <p:nvPr/>
          </p:nvSpPr>
          <p:spPr bwMode="auto">
            <a:xfrm flipH="0" flipV="0">
              <a:off x="0" y="0"/>
              <a:ext cx="4468649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Практическая часть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367101423" name="Прямоугольник 58"/>
            <p:cNvSpPr/>
            <p:nvPr/>
          </p:nvSpPr>
          <p:spPr bwMode="auto">
            <a:xfrm rot="10799990" flipH="1">
              <a:off x="0" y="0"/>
              <a:ext cx="6276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2029071228" name="Прямоугольник 58"/>
            <p:cNvSpPr>
              <a:spLocks noChangeAspect="1"/>
            </p:cNvSpPr>
            <p:nvPr/>
          </p:nvSpPr>
          <p:spPr bwMode="auto">
            <a:xfrm flipH="1">
              <a:off x="4435146" y="0"/>
              <a:ext cx="73800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  <p:graphicFrame>
        <p:nvGraphicFramePr>
          <p:cNvPr id="360827220" name=""/>
          <p:cNvGraphicFramePr>
            <a:graphicFrameLocks xmlns:a="http://schemas.openxmlformats.org/drawingml/2006/main"/>
          </p:cNvGraphicFramePr>
          <p:nvPr/>
        </p:nvGraphicFramePr>
        <p:xfrm>
          <a:off x="3596004" y="4112229"/>
          <a:ext cx="5952489" cy="15366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969894"/>
                <a:gridCol w="2969894"/>
              </a:tblGrid>
              <a:tr h="30480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lang="ru-RU"/>
                        <a:t>Метрика</a:t>
                      </a:r>
                      <a:endParaRPr lang="en-US"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lang="ru-RU"/>
                        <a:t>Значение</a:t>
                      </a:r>
                      <a:endParaRPr lang="en-US"/>
                    </a:p>
                  </a:txBody>
                  <a:tcPr vert="horz"/>
                </a:tc>
              </a:tr>
              <a:tr h="30480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MSE</a:t>
                      </a:r>
                      <a:endParaRPr lang="en-US"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0.887</a:t>
                      </a:r>
                      <a:endParaRPr lang="en-US"/>
                    </a:p>
                  </a:txBody>
                  <a:tcPr vert="horz"/>
                </a:tc>
              </a:tr>
              <a:tr h="30480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MAE</a:t>
                      </a:r>
                      <a:endParaRPr lang="en-US"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0.779</a:t>
                      </a:r>
                      <a:endParaRPr lang="en-US"/>
                    </a:p>
                  </a:txBody>
                  <a:tcPr vert="horz"/>
                </a:tc>
              </a:tr>
              <a:tr h="30480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MAPE</a:t>
                      </a:r>
                      <a:endParaRPr lang="en-US"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31.97%</a:t>
                      </a:r>
                      <a:endParaRPr lang="en-US"/>
                    </a:p>
                  </a:txBody>
                  <a:tcPr vert="horz"/>
                </a:tc>
              </a:tr>
              <a:tr h="304800"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R²</a:t>
                      </a:r>
                      <a:endParaRPr lang="en-US"/>
                    </a:p>
                  </a:txBody>
                  <a:tcPr vert="horz"/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/>
                        <a:t>0.009</a:t>
                      </a:r>
                      <a:endParaRPr lang="en-US"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15469" name="Номер слайда 3"/>
          <p:cNvSpPr>
            <a:spLocks noGrp="1"/>
          </p:cNvSpPr>
          <p:nvPr>
            <p:ph type="sldNum" idx="12"/>
          </p:nvPr>
        </p:nvSpPr>
        <p:spPr bwMode="auto"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4</a:t>
            </a:fld>
            <a:endParaRPr lang="ru-RU"/>
          </a:p>
        </p:txBody>
      </p:sp>
      <p:sp>
        <p:nvSpPr>
          <p:cNvPr id="1932597105" name="Google Shape;173;p7"/>
          <p:cNvSpPr txBox="1"/>
          <p:nvPr/>
        </p:nvSpPr>
        <p:spPr bwMode="auto">
          <a:xfrm>
            <a:off x="461150" y="2048680"/>
            <a:ext cx="6991225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/>
            </a:pPr>
            <a:r>
              <a:rPr lang="ru-RU" sz="2200">
                <a:solidFill>
                  <a:srgbClr val="272727"/>
                </a:solidFill>
                <a:latin typeface="+mn-lt"/>
                <a:ea typeface="Open Sans"/>
                <a:cs typeface="ALS Sector Regular"/>
              </a:rPr>
              <a:t>Текст слайда</a:t>
            </a:r>
            <a:endParaRPr lang="ru-RU" sz="2200">
              <a:solidFill>
                <a:srgbClr val="262626"/>
              </a:solidFill>
              <a:latin typeface="+mn-lt"/>
              <a:ea typeface="Open Sans"/>
              <a:cs typeface="ALS Sector Regular"/>
            </a:endParaRPr>
          </a:p>
        </p:txBody>
      </p:sp>
      <p:sp>
        <p:nvSpPr>
          <p:cNvPr id="48156384" name="Текст 2"/>
          <p:cNvSpPr txBox="1"/>
          <p:nvPr/>
        </p:nvSpPr>
        <p:spPr bwMode="auto"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>
                <a:solidFill>
                  <a:srgbClr val="F1BE29"/>
                </a:solidFill>
                <a:latin typeface="ALS Sector Regular"/>
                <a:ea typeface="Open Sans"/>
                <a:cs typeface="ALS Sector Regular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r>
              <a:rPr lang="ru-RU" sz="2600"/>
              <a:t>Подзаголовок</a:t>
            </a:r>
            <a:endParaRPr/>
          </a:p>
        </p:txBody>
      </p:sp>
      <p:sp>
        <p:nvSpPr>
          <p:cNvPr id="347434184" name="Google Shape;175;p7"/>
          <p:cNvSpPr/>
          <p:nvPr/>
        </p:nvSpPr>
        <p:spPr bwMode="auto">
          <a:xfrm>
            <a:off x="8260537" y="1333690"/>
            <a:ext cx="3470313" cy="49312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500">
              <a:solidFill>
                <a:schemeClr val="lt1"/>
              </a:solidFill>
              <a:latin typeface="+mn-lt"/>
              <a:ea typeface="Montserrat"/>
              <a:cs typeface="Montserrat"/>
            </a:endParaRPr>
          </a:p>
        </p:txBody>
      </p:sp>
      <p:sp>
        <p:nvSpPr>
          <p:cNvPr id="1885571980" name="Google Shape;176;p7"/>
          <p:cNvSpPr txBox="1"/>
          <p:nvPr/>
        </p:nvSpPr>
        <p:spPr bwMode="auto">
          <a:xfrm>
            <a:off x="8162905" y="3001637"/>
            <a:ext cx="3497460" cy="143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/>
            </a:pPr>
            <a:r>
              <a:rPr lang="ru-RU" sz="2700" b="1" baseline="30000">
                <a:solidFill>
                  <a:srgbClr val="000000"/>
                </a:solidFill>
                <a:latin typeface="+mn-lt"/>
                <a:ea typeface="Montserrat"/>
                <a:cs typeface="Montserrat"/>
              </a:rPr>
              <a:t>Рисунок</a:t>
            </a:r>
            <a:endParaRPr sz="1500" baseline="30000">
              <a:solidFill>
                <a:srgbClr val="000000"/>
              </a:solidFill>
              <a:latin typeface="+mn-lt"/>
              <a:ea typeface="Montserrat"/>
              <a:cs typeface="Montserrat"/>
            </a:endParaRPr>
          </a:p>
        </p:txBody>
      </p:sp>
      <p:grpSp>
        <p:nvGrpSpPr>
          <p:cNvPr id="1595843795" name="Группа 18"/>
          <p:cNvGrpSpPr/>
          <p:nvPr/>
        </p:nvGrpSpPr>
        <p:grpSpPr bwMode="auto"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20" name="Прямоугольник 19"/>
            <p:cNvSpPr/>
            <p:nvPr/>
          </p:nvSpPr>
          <p:spPr bwMode="auto"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Заголовок слайда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22" name="Прямоугольник 58"/>
            <p:cNvSpPr/>
            <p:nvPr/>
          </p:nvSpPr>
          <p:spPr bwMode="auto"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23" name="Прямоугольник 58"/>
            <p:cNvSpPr>
              <a:spLocks noChangeAspect="1"/>
            </p:cNvSpPr>
            <p:nvPr/>
          </p:nvSpPr>
          <p:spPr bwMode="auto"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114679" name="Номер слайда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6</a:t>
            </a:fld>
            <a:endParaRPr lang="ru-RU"/>
          </a:p>
        </p:txBody>
      </p:sp>
      <p:sp>
        <p:nvSpPr>
          <p:cNvPr id="1058460145" name="Текст 3"/>
          <p:cNvSpPr>
            <a:spLocks noGrp="1"/>
          </p:cNvSpPr>
          <p:nvPr>
            <p:ph type="body" idx="13"/>
          </p:nvPr>
        </p:nvSpPr>
        <p:spPr bwMode="auto">
          <a:xfrm>
            <a:off x="387331" y="1938304"/>
            <a:ext cx="5508000" cy="4507045"/>
          </a:xfrm>
        </p:spPr>
        <p:txBody>
          <a:bodyPr>
            <a:normAutofit/>
          </a:bodyPr>
          <a:lstStyle/>
          <a:p>
            <a:pPr marL="76200" indent="0" algn="just">
              <a:buNone/>
              <a:defRPr/>
            </a:pPr>
            <a:r>
              <a:rPr lang="ru-RU" sz="2200"/>
              <a:t>Текст слайда</a:t>
            </a:r>
            <a:endParaRPr/>
          </a:p>
        </p:txBody>
      </p:sp>
      <p:sp>
        <p:nvSpPr>
          <p:cNvPr id="1484565425" name="Текст 4"/>
          <p:cNvSpPr>
            <a:spLocks noGrp="1"/>
          </p:cNvSpPr>
          <p:nvPr>
            <p:ph type="body" idx="2"/>
          </p:nvPr>
        </p:nvSpPr>
        <p:spPr bwMode="auto">
          <a:xfrm>
            <a:off x="6241899" y="1938304"/>
            <a:ext cx="5508000" cy="4507045"/>
          </a:xfrm>
        </p:spPr>
        <p:txBody>
          <a:bodyPr>
            <a:normAutofit/>
          </a:bodyPr>
          <a:lstStyle/>
          <a:p>
            <a:pPr marL="76200" indent="0" algn="just">
              <a:buNone/>
              <a:defRPr/>
            </a:pPr>
            <a:r>
              <a:rPr lang="ru-RU" sz="2200"/>
              <a:t>Текст слайда</a:t>
            </a:r>
            <a:endParaRPr/>
          </a:p>
        </p:txBody>
      </p:sp>
      <p:sp>
        <p:nvSpPr>
          <p:cNvPr id="1618505827" name="Текст 1"/>
          <p:cNvSpPr>
            <a:spLocks noGrp="1"/>
          </p:cNvSpPr>
          <p:nvPr>
            <p:ph type="body" idx="14"/>
          </p:nvPr>
        </p:nvSpPr>
        <p:spPr bwMode="auto">
          <a:xfrm>
            <a:off x="206357" y="1330759"/>
            <a:ext cx="11196533" cy="58468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600"/>
              <a:t>Подзаголовок</a:t>
            </a:r>
            <a:endParaRPr/>
          </a:p>
        </p:txBody>
      </p:sp>
      <p:grpSp>
        <p:nvGrpSpPr>
          <p:cNvPr id="1616648652" name="Группа 7"/>
          <p:cNvGrpSpPr/>
          <p:nvPr/>
        </p:nvGrpSpPr>
        <p:grpSpPr bwMode="auto"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/>
            <p:cNvSpPr/>
            <p:nvPr/>
          </p:nvSpPr>
          <p:spPr bwMode="auto"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ru-RU" sz="2800" spc="18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/>
                  <a:cs typeface="ALS Sector Bold"/>
                </a:rPr>
                <a:t>Заголовок слайда</a:t>
              </a:r>
              <a:endParaRPr lang="ru-RU" sz="2800" spc="180">
                <a:latin typeface="ALS Sector Bold"/>
                <a:cs typeface="ALS Sector Bold"/>
              </a:endParaRPr>
            </a:p>
          </p:txBody>
        </p:sp>
        <p:sp>
          <p:nvSpPr>
            <p:cNvPr id="12" name="Прямоугольник 58"/>
            <p:cNvSpPr/>
            <p:nvPr/>
          </p:nvSpPr>
          <p:spPr bwMode="auto"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ALS Sector Regular"/>
              </a:endParaRPr>
            </a:p>
          </p:txBody>
        </p:sp>
        <p:sp>
          <p:nvSpPr>
            <p:cNvPr id="13" name="Прямоугольник 58"/>
            <p:cNvSpPr>
              <a:spLocks noChangeAspect="1"/>
            </p:cNvSpPr>
            <p:nvPr/>
          </p:nvSpPr>
          <p:spPr bwMode="auto"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 fill="norm" stroke="1" extrusionOk="0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rgbClr val="065CAB"/>
                </a:solidFill>
                <a:latin typeface="ALS Sector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Arial"/>
        <a:cs typeface="Arial"/>
      </a:majorFont>
      <a:minorFont>
        <a:latin typeface="ALS Sector Regular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ONLYOFFICE/8.3.3.21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/>
  <cp:revision>98</cp:revision>
  <dcterms:created xsi:type="dcterms:W3CDTF">2021-02-24T09:03:25Z</dcterms:created>
  <dcterms:modified xsi:type="dcterms:W3CDTF">2025-05-07T22:21:16Z</dcterms:modified>
</cp:coreProperties>
</file>